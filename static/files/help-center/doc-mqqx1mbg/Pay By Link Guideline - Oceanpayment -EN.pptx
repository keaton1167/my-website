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24" r:id="rId2"/>
    <p:sldId id="434" r:id="rId3"/>
    <p:sldId id="435" r:id="rId4"/>
    <p:sldId id="436" r:id="rId5"/>
    <p:sldId id="9291" r:id="rId6"/>
    <p:sldId id="437" r:id="rId7"/>
    <p:sldId id="438" r:id="rId8"/>
    <p:sldId id="9292" r:id="rId9"/>
    <p:sldId id="9290" r:id="rId10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King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King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King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King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King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King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King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King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King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63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1912" userDrawn="1">
          <p15:clr>
            <a:srgbClr val="A4A3A4"/>
          </p15:clr>
        </p15:guide>
        <p15:guide id="4" pos="5813" userDrawn="1">
          <p15:clr>
            <a:srgbClr val="A4A3A4"/>
          </p15:clr>
        </p15:guide>
        <p15:guide id="5" orient="horz" pos="572" userDrawn="1">
          <p15:clr>
            <a:srgbClr val="A4A3A4"/>
          </p15:clr>
        </p15:guide>
        <p15:guide id="6" pos="438" userDrawn="1">
          <p15:clr>
            <a:srgbClr val="A4A3A4"/>
          </p15:clr>
        </p15:guide>
        <p15:guide id="7" pos="72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93B"/>
    <a:srgbClr val="404040"/>
    <a:srgbClr val="D9D9D9"/>
    <a:srgbClr val="016FD0"/>
    <a:srgbClr val="FFFFFF"/>
    <a:srgbClr val="CA4E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3" autoAdjust="0"/>
    <p:restoredTop sz="94715"/>
  </p:normalViewPr>
  <p:slideViewPr>
    <p:cSldViewPr snapToGrid="0" showGuides="1">
      <p:cViewPr varScale="1">
        <p:scale>
          <a:sx n="77" d="100"/>
          <a:sy n="77" d="100"/>
        </p:scale>
        <p:origin x="576" y="68"/>
      </p:cViewPr>
      <p:guideLst>
        <p:guide pos="3863"/>
        <p:guide orient="horz" pos="2160"/>
        <p:guide pos="1912"/>
        <p:guide pos="5813"/>
        <p:guide orient="horz" pos="572"/>
        <p:guide pos="438"/>
        <p:guide pos="72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4B0AA2-5824-4E80-B9E3-671A174D93BE}" type="datetimeFigureOut">
              <a:rPr lang="ru-RU"/>
              <a:pPr>
                <a:defRPr/>
              </a:pPr>
              <a:t>11.05.2026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52978F6-84B1-450F-9B25-F5B1ACEEEC97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2251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2978F6-84B1-450F-9B25-F5B1ACEEEC97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67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2978F6-84B1-450F-9B25-F5B1ACEEEC97}" type="slidenum">
              <a:rPr lang="ru-RU" smtClean="0"/>
              <a:pPr>
                <a:defRPr/>
              </a:pPr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5367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34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78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38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72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66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099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824" y="365124"/>
            <a:ext cx="7422776" cy="549275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F7106-CFF3-433D-8400-305A0D253059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764547-DDC3-4BFC-9D37-6FAF91FC6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50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F7106-CFF3-433D-8400-305A0D253059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764547-DDC3-4BFC-9D37-6FAF91FC6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113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63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1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686" y="424685"/>
            <a:ext cx="2631305" cy="609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60" r:id="rId2"/>
    <p:sldLayoutId id="2147483762" r:id="rId3"/>
    <p:sldLayoutId id="2147483765" r:id="rId4"/>
    <p:sldLayoutId id="2147483774" r:id="rId5"/>
    <p:sldLayoutId id="2147483788" r:id="rId6"/>
    <p:sldLayoutId id="2147483789" r:id="rId7"/>
    <p:sldLayoutId id="2147483790" r:id="rId8"/>
    <p:sldLayoutId id="2147483791" r:id="rId9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Karla" pitchFamily="2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Karla" pitchFamily="2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Karla" pitchFamily="2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Karla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Karla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Karla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Karla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Karla" pitchFamily="2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вал 12"/>
          <p:cNvSpPr/>
          <p:nvPr/>
        </p:nvSpPr>
        <p:spPr>
          <a:xfrm>
            <a:off x="5832475" y="5743575"/>
            <a:ext cx="600075" cy="600075"/>
          </a:xfrm>
          <a:prstGeom prst="ellipse">
            <a:avLst/>
          </a:prstGeom>
          <a:solidFill>
            <a:srgbClr val="0299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10800000">
            <a:off x="6026944" y="5976938"/>
            <a:ext cx="224485" cy="164046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1FBB525-037B-4846-B3B4-48D63EF31A24}"/>
              </a:ext>
            </a:extLst>
          </p:cNvPr>
          <p:cNvGrpSpPr/>
          <p:nvPr/>
        </p:nvGrpSpPr>
        <p:grpSpPr>
          <a:xfrm>
            <a:off x="0" y="0"/>
            <a:ext cx="12192000" cy="6869430"/>
            <a:chOff x="0" y="0"/>
            <a:chExt cx="19200" cy="10818"/>
          </a:xfrm>
        </p:grpSpPr>
        <p:pic>
          <p:nvPicPr>
            <p:cNvPr id="17" name="图片 16" descr="/private/var/folders/k2/v27r0t595wsbplxv8tw3jyn40000gn/T/com.kingsoft.wpsoffice.mac/picturecompress_20220923110541/output_1.jpgoutput_1">
              <a:extLst>
                <a:ext uri="{FF2B5EF4-FFF2-40B4-BE49-F238E27FC236}">
                  <a16:creationId xmlns:a16="http://schemas.microsoft.com/office/drawing/2014/main" id="{9573D995-FB00-47D2-812E-59AC432DC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/>
            <a:stretch>
              <a:fillRect/>
            </a:stretch>
          </p:blipFill>
          <p:spPr>
            <a:xfrm>
              <a:off x="0" y="0"/>
              <a:ext cx="19200" cy="10818"/>
            </a:xfrm>
            <a:prstGeom prst="rect">
              <a:avLst/>
            </a:prstGeom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8EC62F5-FC9E-4D44-AF70-A91DBF5CDC70}"/>
                </a:ext>
              </a:extLst>
            </p:cNvPr>
            <p:cNvGrpSpPr/>
            <p:nvPr/>
          </p:nvGrpSpPr>
          <p:grpSpPr>
            <a:xfrm>
              <a:off x="20" y="2840"/>
              <a:ext cx="9497" cy="7978"/>
              <a:chOff x="0" y="2840"/>
              <a:chExt cx="9497" cy="7978"/>
            </a:xfrm>
          </p:grpSpPr>
          <p:pic>
            <p:nvPicPr>
              <p:cNvPr id="23" name="图片 22" descr="图片1">
                <a:extLst>
                  <a:ext uri="{FF2B5EF4-FFF2-40B4-BE49-F238E27FC236}">
                    <a16:creationId xmlns:a16="http://schemas.microsoft.com/office/drawing/2014/main" id="{A3E7C502-49B1-49C1-9C0D-791A263935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/>
              <a:srcRect/>
              <a:stretch>
                <a:fillRect/>
              </a:stretch>
            </p:blipFill>
            <p:spPr>
              <a:xfrm>
                <a:off x="0" y="2840"/>
                <a:ext cx="9497" cy="7978"/>
              </a:xfrm>
              <a:prstGeom prst="rect">
                <a:avLst/>
              </a:prstGeom>
            </p:spPr>
          </p:pic>
          <p:pic>
            <p:nvPicPr>
              <p:cNvPr id="24" name="图片 23" descr="/private/var/folders/k2/v27r0t595wsbplxv8tw3jyn40000gn/T/com.kingsoft.wpsoffice.mac/picturecompress_20220923110926/output_1.pngoutput_1">
                <a:extLst>
                  <a:ext uri="{FF2B5EF4-FFF2-40B4-BE49-F238E27FC236}">
                    <a16:creationId xmlns:a16="http://schemas.microsoft.com/office/drawing/2014/main" id="{287B0455-6EAF-4C10-A156-07856F50D9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50000"/>
              </a:blip>
              <a:srcRect/>
              <a:stretch>
                <a:fillRect/>
              </a:stretch>
            </p:blipFill>
            <p:spPr>
              <a:xfrm>
                <a:off x="0" y="2840"/>
                <a:ext cx="9495" cy="7977"/>
              </a:xfrm>
              <a:prstGeom prst="rect">
                <a:avLst/>
              </a:prstGeom>
              <a:noFill/>
            </p:spPr>
          </p:pic>
        </p:grp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D283672F-47FA-4A45-A4A0-56F8531AE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biLevel thresh="25000"/>
            </a:blip>
            <a:stretch>
              <a:fillRect/>
            </a:stretch>
          </p:blipFill>
          <p:spPr>
            <a:xfrm>
              <a:off x="1046" y="822"/>
              <a:ext cx="3456" cy="596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7BA5FA93-BE05-49F6-B89E-6B03A2A51FAF}"/>
                </a:ext>
              </a:extLst>
            </p:cNvPr>
            <p:cNvSpPr txBox="1"/>
            <p:nvPr/>
          </p:nvSpPr>
          <p:spPr>
            <a:xfrm>
              <a:off x="287" y="5324"/>
              <a:ext cx="9081" cy="3478"/>
            </a:xfrm>
            <a:prstGeom prst="rect">
              <a:avLst/>
            </a:prstGeom>
            <a:noFill/>
            <a:ln w="12700">
              <a:noFill/>
            </a:ln>
            <a:effectLst/>
          </p:spPr>
          <p:txBody>
            <a:bodyPr wrap="square" rtlCol="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4400" dirty="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Arial Unicode MS" panose="020B0604020202020204" pitchFamily="34" charset="-122"/>
                  <a:sym typeface="+mn-ea"/>
                </a:rPr>
                <a:t>Pay By Link </a:t>
              </a:r>
            </a:p>
            <a:p>
              <a:pPr>
                <a:lnSpc>
                  <a:spcPct val="100000"/>
                </a:lnSpc>
              </a:pPr>
              <a:r>
                <a:rPr lang="en-US" altLang="zh-CN" sz="4400" dirty="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Arial Unicode MS" panose="020B0604020202020204" pitchFamily="34" charset="-122"/>
                  <a:sym typeface="+mn-ea"/>
                </a:rPr>
                <a:t>Setting Guideline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32588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756" y="472067"/>
            <a:ext cx="7422776" cy="549275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1997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Procedure Of Pay By LINK</a:t>
            </a:r>
            <a:br>
              <a:rPr lang="zh-CN" altLang="en-US" sz="2400" b="1" dirty="0">
                <a:solidFill>
                  <a:srgbClr val="19971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122744" y="1857823"/>
            <a:ext cx="12181180" cy="4029650"/>
            <a:chOff x="461754" y="1909911"/>
            <a:chExt cx="12181180" cy="4029650"/>
          </a:xfrm>
        </p:grpSpPr>
        <p:grpSp>
          <p:nvGrpSpPr>
            <p:cNvPr id="4" name="Group 3"/>
            <p:cNvGrpSpPr/>
            <p:nvPr/>
          </p:nvGrpSpPr>
          <p:grpSpPr>
            <a:xfrm rot="2700000">
              <a:off x="1045315" y="3626219"/>
              <a:ext cx="767255" cy="1934377"/>
              <a:chOff x="4178985" y="2597150"/>
              <a:chExt cx="801573" cy="2020900"/>
            </a:xfrm>
            <a:solidFill>
              <a:srgbClr val="00B050">
                <a:alpha val="22000"/>
              </a:srgbClr>
            </a:solidFill>
          </p:grpSpPr>
          <p:sp>
            <p:nvSpPr>
              <p:cNvPr id="30" name="Freeform 133"/>
              <p:cNvSpPr>
                <a:spLocks/>
              </p:cNvSpPr>
              <p:nvPr/>
            </p:nvSpPr>
            <p:spPr bwMode="auto">
              <a:xfrm flipH="1">
                <a:off x="4380108" y="3983646"/>
                <a:ext cx="383148" cy="634404"/>
              </a:xfrm>
              <a:custGeom>
                <a:avLst/>
                <a:gdLst>
                  <a:gd name="T0" fmla="*/ 7566 w 397"/>
                  <a:gd name="T1" fmla="*/ 1009717 h 659"/>
                  <a:gd name="T2" fmla="*/ 0 w 397"/>
                  <a:gd name="T3" fmla="*/ 1009717 h 659"/>
                  <a:gd name="T4" fmla="*/ 0 w 397"/>
                  <a:gd name="T5" fmla="*/ 1009717 h 659"/>
                  <a:gd name="T6" fmla="*/ 11348 w 397"/>
                  <a:gd name="T7" fmla="*/ 1021020 h 659"/>
                  <a:gd name="T8" fmla="*/ 15131 w 397"/>
                  <a:gd name="T9" fmla="*/ 1062464 h 659"/>
                  <a:gd name="T10" fmla="*/ 18914 w 397"/>
                  <a:gd name="T11" fmla="*/ 1069999 h 659"/>
                  <a:gd name="T12" fmla="*/ 181575 w 397"/>
                  <a:gd name="T13" fmla="*/ 1574858 h 659"/>
                  <a:gd name="T14" fmla="*/ 348019 w 397"/>
                  <a:gd name="T15" fmla="*/ 1092605 h 659"/>
                  <a:gd name="T16" fmla="*/ 650644 w 397"/>
                  <a:gd name="T17" fmla="*/ 1661513 h 659"/>
                  <a:gd name="T18" fmla="*/ 548508 w 397"/>
                  <a:gd name="T19" fmla="*/ 2124928 h 659"/>
                  <a:gd name="T20" fmla="*/ 760345 w 397"/>
                  <a:gd name="T21" fmla="*/ 2482850 h 659"/>
                  <a:gd name="T22" fmla="*/ 650644 w 397"/>
                  <a:gd name="T23" fmla="*/ 2275632 h 659"/>
                  <a:gd name="T24" fmla="*/ 688472 w 397"/>
                  <a:gd name="T25" fmla="*/ 1989294 h 659"/>
                  <a:gd name="T26" fmla="*/ 866264 w 397"/>
                  <a:gd name="T27" fmla="*/ 1740632 h 659"/>
                  <a:gd name="T28" fmla="*/ 1028925 w 397"/>
                  <a:gd name="T29" fmla="*/ 1454295 h 659"/>
                  <a:gd name="T30" fmla="*/ 1059187 w 397"/>
                  <a:gd name="T31" fmla="*/ 1363872 h 659"/>
                  <a:gd name="T32" fmla="*/ 1161323 w 397"/>
                  <a:gd name="T33" fmla="*/ 1823520 h 659"/>
                  <a:gd name="T34" fmla="*/ 1229414 w 397"/>
                  <a:gd name="T35" fmla="*/ 1529647 h 659"/>
                  <a:gd name="T36" fmla="*/ 1399640 w 397"/>
                  <a:gd name="T37" fmla="*/ 745985 h 659"/>
                  <a:gd name="T38" fmla="*/ 714951 w 397"/>
                  <a:gd name="T39" fmla="*/ 0 h 659"/>
                  <a:gd name="T40" fmla="*/ 11348 w 397"/>
                  <a:gd name="T41" fmla="*/ 956971 h 659"/>
                  <a:gd name="T42" fmla="*/ 7566 w 397"/>
                  <a:gd name="T43" fmla="*/ 1009717 h 65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97" h="659">
                    <a:moveTo>
                      <a:pt x="2" y="268"/>
                    </a:moveTo>
                    <a:cubicBezTo>
                      <a:pt x="2" y="267"/>
                      <a:pt x="0" y="264"/>
                      <a:pt x="0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0" y="269"/>
                      <a:pt x="2" y="270"/>
                      <a:pt x="3" y="271"/>
                    </a:cubicBezTo>
                    <a:cubicBezTo>
                      <a:pt x="3" y="275"/>
                      <a:pt x="4" y="278"/>
                      <a:pt x="4" y="282"/>
                    </a:cubicBezTo>
                    <a:cubicBezTo>
                      <a:pt x="5" y="283"/>
                      <a:pt x="5" y="283"/>
                      <a:pt x="5" y="284"/>
                    </a:cubicBezTo>
                    <a:cubicBezTo>
                      <a:pt x="10" y="335"/>
                      <a:pt x="25" y="381"/>
                      <a:pt x="48" y="418"/>
                    </a:cubicBezTo>
                    <a:cubicBezTo>
                      <a:pt x="23" y="377"/>
                      <a:pt x="37" y="299"/>
                      <a:pt x="92" y="290"/>
                    </a:cubicBezTo>
                    <a:cubicBezTo>
                      <a:pt x="158" y="280"/>
                      <a:pt x="169" y="399"/>
                      <a:pt x="172" y="441"/>
                    </a:cubicBezTo>
                    <a:cubicBezTo>
                      <a:pt x="174" y="484"/>
                      <a:pt x="145" y="521"/>
                      <a:pt x="145" y="564"/>
                    </a:cubicBezTo>
                    <a:cubicBezTo>
                      <a:pt x="145" y="613"/>
                      <a:pt x="170" y="653"/>
                      <a:pt x="201" y="659"/>
                    </a:cubicBezTo>
                    <a:cubicBezTo>
                      <a:pt x="187" y="656"/>
                      <a:pt x="174" y="616"/>
                      <a:pt x="172" y="604"/>
                    </a:cubicBezTo>
                    <a:cubicBezTo>
                      <a:pt x="168" y="580"/>
                      <a:pt x="175" y="551"/>
                      <a:pt x="182" y="528"/>
                    </a:cubicBezTo>
                    <a:cubicBezTo>
                      <a:pt x="190" y="501"/>
                      <a:pt x="211" y="483"/>
                      <a:pt x="229" y="462"/>
                    </a:cubicBezTo>
                    <a:cubicBezTo>
                      <a:pt x="247" y="440"/>
                      <a:pt x="262" y="414"/>
                      <a:pt x="272" y="386"/>
                    </a:cubicBezTo>
                    <a:cubicBezTo>
                      <a:pt x="275" y="378"/>
                      <a:pt x="278" y="370"/>
                      <a:pt x="280" y="362"/>
                    </a:cubicBezTo>
                    <a:cubicBezTo>
                      <a:pt x="284" y="420"/>
                      <a:pt x="307" y="484"/>
                      <a:pt x="307" y="484"/>
                    </a:cubicBezTo>
                    <a:cubicBezTo>
                      <a:pt x="299" y="437"/>
                      <a:pt x="325" y="406"/>
                      <a:pt x="325" y="406"/>
                    </a:cubicBezTo>
                    <a:cubicBezTo>
                      <a:pt x="397" y="291"/>
                      <a:pt x="370" y="198"/>
                      <a:pt x="370" y="198"/>
                    </a:cubicBezTo>
                    <a:cubicBezTo>
                      <a:pt x="351" y="85"/>
                      <a:pt x="277" y="0"/>
                      <a:pt x="189" y="0"/>
                    </a:cubicBezTo>
                    <a:cubicBezTo>
                      <a:pt x="87" y="0"/>
                      <a:pt x="3" y="114"/>
                      <a:pt x="3" y="254"/>
                    </a:cubicBezTo>
                    <a:cubicBezTo>
                      <a:pt x="3" y="258"/>
                      <a:pt x="2" y="263"/>
                      <a:pt x="2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Freeform 134"/>
              <p:cNvSpPr>
                <a:spLocks/>
              </p:cNvSpPr>
              <p:nvPr/>
            </p:nvSpPr>
            <p:spPr bwMode="auto">
              <a:xfrm flipH="1">
                <a:off x="4413792" y="3978274"/>
                <a:ext cx="312270" cy="399544"/>
              </a:xfrm>
              <a:custGeom>
                <a:avLst/>
                <a:gdLst>
                  <a:gd name="T0" fmla="*/ 581760 w 324"/>
                  <a:gd name="T1" fmla="*/ 0 h 415"/>
                  <a:gd name="T2" fmla="*/ 1148410 w 324"/>
                  <a:gd name="T3" fmla="*/ 648083 h 415"/>
                  <a:gd name="T4" fmla="*/ 1152187 w 324"/>
                  <a:gd name="T5" fmla="*/ 655619 h 415"/>
                  <a:gd name="T6" fmla="*/ 1152187 w 324"/>
                  <a:gd name="T7" fmla="*/ 663154 h 415"/>
                  <a:gd name="T8" fmla="*/ 1042635 w 324"/>
                  <a:gd name="T9" fmla="*/ 1273558 h 415"/>
                  <a:gd name="T10" fmla="*/ 963304 w 324"/>
                  <a:gd name="T11" fmla="*/ 983428 h 415"/>
                  <a:gd name="T12" fmla="*/ 868863 w 324"/>
                  <a:gd name="T13" fmla="*/ 1137913 h 415"/>
                  <a:gd name="T14" fmla="*/ 642203 w 324"/>
                  <a:gd name="T15" fmla="*/ 1552384 h 415"/>
                  <a:gd name="T16" fmla="*/ 630870 w 324"/>
                  <a:gd name="T17" fmla="*/ 1563688 h 415"/>
                  <a:gd name="T18" fmla="*/ 630870 w 324"/>
                  <a:gd name="T19" fmla="*/ 1541080 h 415"/>
                  <a:gd name="T20" fmla="*/ 245548 w 324"/>
                  <a:gd name="T21" fmla="*/ 859086 h 415"/>
                  <a:gd name="T22" fmla="*/ 196439 w 324"/>
                  <a:gd name="T23" fmla="*/ 862854 h 415"/>
                  <a:gd name="T24" fmla="*/ 7555 w 324"/>
                  <a:gd name="T25" fmla="*/ 964588 h 415"/>
                  <a:gd name="T26" fmla="*/ 3778 w 324"/>
                  <a:gd name="T27" fmla="*/ 945749 h 415"/>
                  <a:gd name="T28" fmla="*/ 3778 w 324"/>
                  <a:gd name="T29" fmla="*/ 938213 h 415"/>
                  <a:gd name="T30" fmla="*/ 0 w 324"/>
                  <a:gd name="T31" fmla="*/ 900534 h 415"/>
                  <a:gd name="T32" fmla="*/ 0 w 324"/>
                  <a:gd name="T33" fmla="*/ 889230 h 415"/>
                  <a:gd name="T34" fmla="*/ 0 w 324"/>
                  <a:gd name="T35" fmla="*/ 840247 h 415"/>
                  <a:gd name="T36" fmla="*/ 581760 w 324"/>
                  <a:gd name="T37" fmla="*/ 0 h 41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24" h="415">
                    <a:moveTo>
                      <a:pt x="154" y="0"/>
                    </a:moveTo>
                    <a:cubicBezTo>
                      <a:pt x="225" y="0"/>
                      <a:pt x="288" y="73"/>
                      <a:pt x="304" y="172"/>
                    </a:cubicBezTo>
                    <a:cubicBezTo>
                      <a:pt x="305" y="174"/>
                      <a:pt x="305" y="174"/>
                      <a:pt x="305" y="174"/>
                    </a:cubicBezTo>
                    <a:cubicBezTo>
                      <a:pt x="305" y="176"/>
                      <a:pt x="305" y="176"/>
                      <a:pt x="305" y="176"/>
                    </a:cubicBezTo>
                    <a:cubicBezTo>
                      <a:pt x="306" y="179"/>
                      <a:pt x="324" y="248"/>
                      <a:pt x="276" y="338"/>
                    </a:cubicBezTo>
                    <a:cubicBezTo>
                      <a:pt x="276" y="335"/>
                      <a:pt x="256" y="263"/>
                      <a:pt x="255" y="261"/>
                    </a:cubicBezTo>
                    <a:cubicBezTo>
                      <a:pt x="256" y="270"/>
                      <a:pt x="235" y="292"/>
                      <a:pt x="230" y="302"/>
                    </a:cubicBezTo>
                    <a:cubicBezTo>
                      <a:pt x="209" y="338"/>
                      <a:pt x="198" y="379"/>
                      <a:pt x="170" y="412"/>
                    </a:cubicBezTo>
                    <a:cubicBezTo>
                      <a:pt x="169" y="413"/>
                      <a:pt x="168" y="414"/>
                      <a:pt x="167" y="415"/>
                    </a:cubicBezTo>
                    <a:cubicBezTo>
                      <a:pt x="167" y="413"/>
                      <a:pt x="167" y="411"/>
                      <a:pt x="167" y="409"/>
                    </a:cubicBezTo>
                    <a:cubicBezTo>
                      <a:pt x="159" y="260"/>
                      <a:pt x="107" y="228"/>
                      <a:pt x="65" y="228"/>
                    </a:cubicBezTo>
                    <a:cubicBezTo>
                      <a:pt x="61" y="228"/>
                      <a:pt x="57" y="229"/>
                      <a:pt x="52" y="229"/>
                    </a:cubicBezTo>
                    <a:cubicBezTo>
                      <a:pt x="33" y="232"/>
                      <a:pt x="15" y="242"/>
                      <a:pt x="2" y="256"/>
                    </a:cubicBezTo>
                    <a:cubicBezTo>
                      <a:pt x="2" y="254"/>
                      <a:pt x="1" y="253"/>
                      <a:pt x="1" y="251"/>
                    </a:cubicBezTo>
                    <a:cubicBezTo>
                      <a:pt x="1" y="249"/>
                      <a:pt x="1" y="249"/>
                      <a:pt x="1" y="249"/>
                    </a:cubicBezTo>
                    <a:cubicBezTo>
                      <a:pt x="1" y="246"/>
                      <a:pt x="1" y="242"/>
                      <a:pt x="0" y="239"/>
                    </a:cubicBezTo>
                    <a:cubicBezTo>
                      <a:pt x="0" y="239"/>
                      <a:pt x="0" y="236"/>
                      <a:pt x="0" y="236"/>
                    </a:cubicBezTo>
                    <a:cubicBezTo>
                      <a:pt x="0" y="231"/>
                      <a:pt x="0" y="227"/>
                      <a:pt x="0" y="223"/>
                    </a:cubicBezTo>
                    <a:cubicBezTo>
                      <a:pt x="0" y="100"/>
                      <a:pt x="69" y="0"/>
                      <a:pt x="15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Freeform 135"/>
              <p:cNvSpPr>
                <a:spLocks/>
              </p:cNvSpPr>
              <p:nvPr/>
            </p:nvSpPr>
            <p:spPr bwMode="auto">
              <a:xfrm flipH="1">
                <a:off x="4464149" y="3992708"/>
                <a:ext cx="204536" cy="288808"/>
              </a:xfrm>
              <a:custGeom>
                <a:avLst/>
                <a:gdLst>
                  <a:gd name="T0" fmla="*/ 162607 w 212"/>
                  <a:gd name="T1" fmla="*/ 535009 h 300"/>
                  <a:gd name="T2" fmla="*/ 128573 w 212"/>
                  <a:gd name="T3" fmla="*/ 535009 h 300"/>
                  <a:gd name="T4" fmla="*/ 3782 w 212"/>
                  <a:gd name="T5" fmla="*/ 599059 h 300"/>
                  <a:gd name="T6" fmla="*/ 3782 w 212"/>
                  <a:gd name="T7" fmla="*/ 587756 h 300"/>
                  <a:gd name="T8" fmla="*/ 3782 w 212"/>
                  <a:gd name="T9" fmla="*/ 583988 h 300"/>
                  <a:gd name="T10" fmla="*/ 0 w 212"/>
                  <a:gd name="T11" fmla="*/ 557615 h 300"/>
                  <a:gd name="T12" fmla="*/ 0 w 212"/>
                  <a:gd name="T13" fmla="*/ 550079 h 300"/>
                  <a:gd name="T14" fmla="*/ 0 w 212"/>
                  <a:gd name="T15" fmla="*/ 523706 h 300"/>
                  <a:gd name="T16" fmla="*/ 381936 w 212"/>
                  <a:gd name="T17" fmla="*/ 0 h 300"/>
                  <a:gd name="T18" fmla="*/ 752528 w 212"/>
                  <a:gd name="T19" fmla="*/ 403140 h 300"/>
                  <a:gd name="T20" fmla="*/ 756309 w 212"/>
                  <a:gd name="T21" fmla="*/ 406908 h 300"/>
                  <a:gd name="T22" fmla="*/ 756309 w 212"/>
                  <a:gd name="T23" fmla="*/ 410676 h 300"/>
                  <a:gd name="T24" fmla="*/ 684460 w 212"/>
                  <a:gd name="T25" fmla="*/ 791210 h 300"/>
                  <a:gd name="T26" fmla="*/ 631518 w 212"/>
                  <a:gd name="T27" fmla="*/ 610362 h 300"/>
                  <a:gd name="T28" fmla="*/ 567232 w 212"/>
                  <a:gd name="T29" fmla="*/ 704554 h 300"/>
                  <a:gd name="T30" fmla="*/ 457567 w 212"/>
                  <a:gd name="T31" fmla="*/ 1130300 h 300"/>
                  <a:gd name="T32" fmla="*/ 162607 w 212"/>
                  <a:gd name="T33" fmla="*/ 535009 h 30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12" h="300">
                    <a:moveTo>
                      <a:pt x="43" y="142"/>
                    </a:moveTo>
                    <a:cubicBezTo>
                      <a:pt x="40" y="142"/>
                      <a:pt x="37" y="142"/>
                      <a:pt x="34" y="142"/>
                    </a:cubicBezTo>
                    <a:cubicBezTo>
                      <a:pt x="21" y="144"/>
                      <a:pt x="10" y="150"/>
                      <a:pt x="1" y="159"/>
                    </a:cubicBezTo>
                    <a:cubicBezTo>
                      <a:pt x="1" y="158"/>
                      <a:pt x="1" y="157"/>
                      <a:pt x="1" y="156"/>
                    </a:cubicBezTo>
                    <a:cubicBezTo>
                      <a:pt x="1" y="155"/>
                      <a:pt x="1" y="155"/>
                      <a:pt x="1" y="155"/>
                    </a:cubicBezTo>
                    <a:cubicBezTo>
                      <a:pt x="0" y="152"/>
                      <a:pt x="0" y="150"/>
                      <a:pt x="0" y="148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0" y="143"/>
                      <a:pt x="0" y="141"/>
                      <a:pt x="0" y="139"/>
                    </a:cubicBezTo>
                    <a:cubicBezTo>
                      <a:pt x="0" y="62"/>
                      <a:pt x="45" y="0"/>
                      <a:pt x="101" y="0"/>
                    </a:cubicBezTo>
                    <a:cubicBezTo>
                      <a:pt x="147" y="0"/>
                      <a:pt x="189" y="45"/>
                      <a:pt x="199" y="107"/>
                    </a:cubicBezTo>
                    <a:cubicBezTo>
                      <a:pt x="200" y="108"/>
                      <a:pt x="200" y="108"/>
                      <a:pt x="200" y="108"/>
                    </a:cubicBez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1" y="111"/>
                      <a:pt x="212" y="154"/>
                      <a:pt x="181" y="210"/>
                    </a:cubicBezTo>
                    <a:cubicBezTo>
                      <a:pt x="181" y="208"/>
                      <a:pt x="167" y="164"/>
                      <a:pt x="167" y="162"/>
                    </a:cubicBezTo>
                    <a:cubicBezTo>
                      <a:pt x="168" y="168"/>
                      <a:pt x="154" y="181"/>
                      <a:pt x="150" y="187"/>
                    </a:cubicBezTo>
                    <a:cubicBezTo>
                      <a:pt x="137" y="210"/>
                      <a:pt x="126" y="275"/>
                      <a:pt x="121" y="300"/>
                    </a:cubicBezTo>
                    <a:cubicBezTo>
                      <a:pt x="121" y="300"/>
                      <a:pt x="94" y="134"/>
                      <a:pt x="43" y="1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Freeform 107"/>
              <p:cNvSpPr>
                <a:spLocks/>
              </p:cNvSpPr>
              <p:nvPr/>
            </p:nvSpPr>
            <p:spPr bwMode="auto">
              <a:xfrm flipH="1">
                <a:off x="4178985" y="3511722"/>
                <a:ext cx="371113" cy="593708"/>
              </a:xfrm>
              <a:custGeom>
                <a:avLst/>
                <a:gdLst>
                  <a:gd name="T0" fmla="*/ 587375 w 312"/>
                  <a:gd name="T1" fmla="*/ 0 h 495"/>
                  <a:gd name="T2" fmla="*/ 1174750 w 312"/>
                  <a:gd name="T3" fmla="*/ 597631 h 495"/>
                  <a:gd name="T4" fmla="*/ 1174750 w 312"/>
                  <a:gd name="T5" fmla="*/ 612666 h 495"/>
                  <a:gd name="T6" fmla="*/ 1174750 w 312"/>
                  <a:gd name="T7" fmla="*/ 612666 h 495"/>
                  <a:gd name="T8" fmla="*/ 798228 w 312"/>
                  <a:gd name="T9" fmla="*/ 1804170 h 495"/>
                  <a:gd name="T10" fmla="*/ 779401 w 312"/>
                  <a:gd name="T11" fmla="*/ 1826722 h 495"/>
                  <a:gd name="T12" fmla="*/ 779401 w 312"/>
                  <a:gd name="T13" fmla="*/ 1826722 h 495"/>
                  <a:gd name="T14" fmla="*/ 779401 w 312"/>
                  <a:gd name="T15" fmla="*/ 1826722 h 495"/>
                  <a:gd name="T16" fmla="*/ 692801 w 312"/>
                  <a:gd name="T17" fmla="*/ 1860550 h 495"/>
                  <a:gd name="T18" fmla="*/ 579845 w 312"/>
                  <a:gd name="T19" fmla="*/ 1762824 h 495"/>
                  <a:gd name="T20" fmla="*/ 587375 w 312"/>
                  <a:gd name="T21" fmla="*/ 1740272 h 495"/>
                  <a:gd name="T22" fmla="*/ 587375 w 312"/>
                  <a:gd name="T23" fmla="*/ 1740272 h 495"/>
                  <a:gd name="T24" fmla="*/ 621262 w 312"/>
                  <a:gd name="T25" fmla="*/ 1559855 h 495"/>
                  <a:gd name="T26" fmla="*/ 459357 w 312"/>
                  <a:gd name="T27" fmla="*/ 1168952 h 495"/>
                  <a:gd name="T28" fmla="*/ 459357 w 312"/>
                  <a:gd name="T29" fmla="*/ 1165193 h 495"/>
                  <a:gd name="T30" fmla="*/ 158139 w 312"/>
                  <a:gd name="T31" fmla="*/ 992293 h 495"/>
                  <a:gd name="T32" fmla="*/ 0 w 312"/>
                  <a:gd name="T33" fmla="*/ 590114 h 495"/>
                  <a:gd name="T34" fmla="*/ 587375 w 312"/>
                  <a:gd name="T35" fmla="*/ 0 h 49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000 w 10000"/>
                  <a:gd name="connsiteY10" fmla="*/ 9354 h 10000"/>
                  <a:gd name="connsiteX11" fmla="*/ 5288 w 10000"/>
                  <a:gd name="connsiteY11" fmla="*/ 8384 h 10000"/>
                  <a:gd name="connsiteX12" fmla="*/ 3910 w 10000"/>
                  <a:gd name="connsiteY12" fmla="*/ 6283 h 10000"/>
                  <a:gd name="connsiteX13" fmla="*/ 3910 w 10000"/>
                  <a:gd name="connsiteY13" fmla="*/ 6263 h 10000"/>
                  <a:gd name="connsiteX14" fmla="*/ 1346 w 10000"/>
                  <a:gd name="connsiteY14" fmla="*/ 5333 h 10000"/>
                  <a:gd name="connsiteX15" fmla="*/ 0 w 10000"/>
                  <a:gd name="connsiteY15" fmla="*/ 3172 h 10000"/>
                  <a:gd name="connsiteX16" fmla="*/ 5000 w 10000"/>
                  <a:gd name="connsiteY16" fmla="*/ 0 h 10000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288 w 10000"/>
                  <a:gd name="connsiteY10" fmla="*/ 8384 h 10000"/>
                  <a:gd name="connsiteX11" fmla="*/ 3910 w 10000"/>
                  <a:gd name="connsiteY11" fmla="*/ 6283 h 10000"/>
                  <a:gd name="connsiteX12" fmla="*/ 3910 w 10000"/>
                  <a:gd name="connsiteY12" fmla="*/ 6263 h 10000"/>
                  <a:gd name="connsiteX13" fmla="*/ 1346 w 10000"/>
                  <a:gd name="connsiteY13" fmla="*/ 5333 h 10000"/>
                  <a:gd name="connsiteX14" fmla="*/ 0 w 10000"/>
                  <a:gd name="connsiteY14" fmla="*/ 3172 h 10000"/>
                  <a:gd name="connsiteX15" fmla="*/ 5000 w 10000"/>
                  <a:gd name="connsiteY15" fmla="*/ 0 h 10000"/>
                  <a:gd name="connsiteX0" fmla="*/ 5000 w 10000"/>
                  <a:gd name="connsiteY0" fmla="*/ 0 h 10086"/>
                  <a:gd name="connsiteX1" fmla="*/ 10000 w 10000"/>
                  <a:gd name="connsiteY1" fmla="*/ 3212 h 10086"/>
                  <a:gd name="connsiteX2" fmla="*/ 10000 w 10000"/>
                  <a:gd name="connsiteY2" fmla="*/ 3293 h 10086"/>
                  <a:gd name="connsiteX3" fmla="*/ 10000 w 10000"/>
                  <a:gd name="connsiteY3" fmla="*/ 3293 h 10086"/>
                  <a:gd name="connsiteX4" fmla="*/ 6795 w 10000"/>
                  <a:gd name="connsiteY4" fmla="*/ 9697 h 10086"/>
                  <a:gd name="connsiteX5" fmla="*/ 6635 w 10000"/>
                  <a:gd name="connsiteY5" fmla="*/ 9818 h 10086"/>
                  <a:gd name="connsiteX6" fmla="*/ 6635 w 10000"/>
                  <a:gd name="connsiteY6" fmla="*/ 9818 h 10086"/>
                  <a:gd name="connsiteX7" fmla="*/ 6635 w 10000"/>
                  <a:gd name="connsiteY7" fmla="*/ 9818 h 10086"/>
                  <a:gd name="connsiteX8" fmla="*/ 5897 w 10000"/>
                  <a:gd name="connsiteY8" fmla="*/ 10000 h 10086"/>
                  <a:gd name="connsiteX9" fmla="*/ 5288 w 10000"/>
                  <a:gd name="connsiteY9" fmla="*/ 8384 h 10086"/>
                  <a:gd name="connsiteX10" fmla="*/ 3910 w 10000"/>
                  <a:gd name="connsiteY10" fmla="*/ 6283 h 10086"/>
                  <a:gd name="connsiteX11" fmla="*/ 3910 w 10000"/>
                  <a:gd name="connsiteY11" fmla="*/ 6263 h 10086"/>
                  <a:gd name="connsiteX12" fmla="*/ 1346 w 10000"/>
                  <a:gd name="connsiteY12" fmla="*/ 5333 h 10086"/>
                  <a:gd name="connsiteX13" fmla="*/ 0 w 10000"/>
                  <a:gd name="connsiteY13" fmla="*/ 3172 h 10086"/>
                  <a:gd name="connsiteX14" fmla="*/ 5000 w 10000"/>
                  <a:gd name="connsiteY14" fmla="*/ 0 h 10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086">
                    <a:moveTo>
                      <a:pt x="5000" y="0"/>
                    </a:moveTo>
                    <a:cubicBezTo>
                      <a:pt x="7756" y="0"/>
                      <a:pt x="10000" y="1455"/>
                      <a:pt x="10000" y="3212"/>
                    </a:cubicBezTo>
                    <a:lnTo>
                      <a:pt x="10000" y="3293"/>
                    </a:lnTo>
                    <a:lnTo>
                      <a:pt x="10000" y="3293"/>
                    </a:lnTo>
                    <a:cubicBezTo>
                      <a:pt x="10000" y="5717"/>
                      <a:pt x="8814" y="7859"/>
                      <a:pt x="6795" y="9697"/>
                    </a:cubicBezTo>
                    <a:cubicBezTo>
                      <a:pt x="6731" y="9737"/>
                      <a:pt x="6699" y="9778"/>
                      <a:pt x="6635" y="9818"/>
                    </a:cubicBezTo>
                    <a:lnTo>
                      <a:pt x="6635" y="9818"/>
                    </a:lnTo>
                    <a:lnTo>
                      <a:pt x="6635" y="9818"/>
                    </a:lnTo>
                    <a:cubicBezTo>
                      <a:pt x="6442" y="9919"/>
                      <a:pt x="6121" y="10239"/>
                      <a:pt x="5897" y="10000"/>
                    </a:cubicBezTo>
                    <a:cubicBezTo>
                      <a:pt x="5673" y="9761"/>
                      <a:pt x="5619" y="9003"/>
                      <a:pt x="5288" y="8384"/>
                    </a:cubicBezTo>
                    <a:cubicBezTo>
                      <a:pt x="5064" y="7556"/>
                      <a:pt x="4744" y="6848"/>
                      <a:pt x="3910" y="6283"/>
                    </a:cubicBezTo>
                    <a:lnTo>
                      <a:pt x="3910" y="6263"/>
                    </a:lnTo>
                    <a:cubicBezTo>
                      <a:pt x="3237" y="5818"/>
                      <a:pt x="2340" y="5475"/>
                      <a:pt x="1346" y="5333"/>
                    </a:cubicBezTo>
                    <a:cubicBezTo>
                      <a:pt x="513" y="4768"/>
                      <a:pt x="0" y="4000"/>
                      <a:pt x="0" y="3172"/>
                    </a:cubicBezTo>
                    <a:cubicBezTo>
                      <a:pt x="0" y="1414"/>
                      <a:pt x="2244" y="0"/>
                      <a:pt x="50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Freeform 107"/>
              <p:cNvSpPr>
                <a:spLocks/>
              </p:cNvSpPr>
              <p:nvPr/>
            </p:nvSpPr>
            <p:spPr bwMode="auto">
              <a:xfrm>
                <a:off x="4609445" y="3511722"/>
                <a:ext cx="371113" cy="593708"/>
              </a:xfrm>
              <a:custGeom>
                <a:avLst/>
                <a:gdLst>
                  <a:gd name="T0" fmla="*/ 587375 w 312"/>
                  <a:gd name="T1" fmla="*/ 0 h 495"/>
                  <a:gd name="T2" fmla="*/ 1174750 w 312"/>
                  <a:gd name="T3" fmla="*/ 597631 h 495"/>
                  <a:gd name="T4" fmla="*/ 1174750 w 312"/>
                  <a:gd name="T5" fmla="*/ 612666 h 495"/>
                  <a:gd name="T6" fmla="*/ 1174750 w 312"/>
                  <a:gd name="T7" fmla="*/ 612666 h 495"/>
                  <a:gd name="T8" fmla="*/ 798228 w 312"/>
                  <a:gd name="T9" fmla="*/ 1804170 h 495"/>
                  <a:gd name="T10" fmla="*/ 779401 w 312"/>
                  <a:gd name="T11" fmla="*/ 1826722 h 495"/>
                  <a:gd name="T12" fmla="*/ 779401 w 312"/>
                  <a:gd name="T13" fmla="*/ 1826722 h 495"/>
                  <a:gd name="T14" fmla="*/ 779401 w 312"/>
                  <a:gd name="T15" fmla="*/ 1826722 h 495"/>
                  <a:gd name="T16" fmla="*/ 692801 w 312"/>
                  <a:gd name="T17" fmla="*/ 1860550 h 495"/>
                  <a:gd name="T18" fmla="*/ 579845 w 312"/>
                  <a:gd name="T19" fmla="*/ 1762824 h 495"/>
                  <a:gd name="T20" fmla="*/ 587375 w 312"/>
                  <a:gd name="T21" fmla="*/ 1740272 h 495"/>
                  <a:gd name="T22" fmla="*/ 587375 w 312"/>
                  <a:gd name="T23" fmla="*/ 1740272 h 495"/>
                  <a:gd name="T24" fmla="*/ 621262 w 312"/>
                  <a:gd name="T25" fmla="*/ 1559855 h 495"/>
                  <a:gd name="T26" fmla="*/ 459357 w 312"/>
                  <a:gd name="T27" fmla="*/ 1168952 h 495"/>
                  <a:gd name="T28" fmla="*/ 459357 w 312"/>
                  <a:gd name="T29" fmla="*/ 1165193 h 495"/>
                  <a:gd name="T30" fmla="*/ 158139 w 312"/>
                  <a:gd name="T31" fmla="*/ 992293 h 495"/>
                  <a:gd name="T32" fmla="*/ 0 w 312"/>
                  <a:gd name="T33" fmla="*/ 590114 h 495"/>
                  <a:gd name="T34" fmla="*/ 587375 w 312"/>
                  <a:gd name="T35" fmla="*/ 0 h 49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000 w 10000"/>
                  <a:gd name="connsiteY10" fmla="*/ 9354 h 10000"/>
                  <a:gd name="connsiteX11" fmla="*/ 5288 w 10000"/>
                  <a:gd name="connsiteY11" fmla="*/ 8384 h 10000"/>
                  <a:gd name="connsiteX12" fmla="*/ 3910 w 10000"/>
                  <a:gd name="connsiteY12" fmla="*/ 6283 h 10000"/>
                  <a:gd name="connsiteX13" fmla="*/ 3910 w 10000"/>
                  <a:gd name="connsiteY13" fmla="*/ 6263 h 10000"/>
                  <a:gd name="connsiteX14" fmla="*/ 1346 w 10000"/>
                  <a:gd name="connsiteY14" fmla="*/ 5333 h 10000"/>
                  <a:gd name="connsiteX15" fmla="*/ 0 w 10000"/>
                  <a:gd name="connsiteY15" fmla="*/ 3172 h 10000"/>
                  <a:gd name="connsiteX16" fmla="*/ 5000 w 10000"/>
                  <a:gd name="connsiteY16" fmla="*/ 0 h 10000"/>
                  <a:gd name="connsiteX0" fmla="*/ 5000 w 10000"/>
                  <a:gd name="connsiteY0" fmla="*/ 0 h 10000"/>
                  <a:gd name="connsiteX1" fmla="*/ 10000 w 10000"/>
                  <a:gd name="connsiteY1" fmla="*/ 3212 h 10000"/>
                  <a:gd name="connsiteX2" fmla="*/ 10000 w 10000"/>
                  <a:gd name="connsiteY2" fmla="*/ 3293 h 10000"/>
                  <a:gd name="connsiteX3" fmla="*/ 10000 w 10000"/>
                  <a:gd name="connsiteY3" fmla="*/ 3293 h 10000"/>
                  <a:gd name="connsiteX4" fmla="*/ 6795 w 10000"/>
                  <a:gd name="connsiteY4" fmla="*/ 9697 h 10000"/>
                  <a:gd name="connsiteX5" fmla="*/ 6635 w 10000"/>
                  <a:gd name="connsiteY5" fmla="*/ 9818 h 10000"/>
                  <a:gd name="connsiteX6" fmla="*/ 6635 w 10000"/>
                  <a:gd name="connsiteY6" fmla="*/ 9818 h 10000"/>
                  <a:gd name="connsiteX7" fmla="*/ 6635 w 10000"/>
                  <a:gd name="connsiteY7" fmla="*/ 9818 h 10000"/>
                  <a:gd name="connsiteX8" fmla="*/ 5897 w 10000"/>
                  <a:gd name="connsiteY8" fmla="*/ 10000 h 10000"/>
                  <a:gd name="connsiteX9" fmla="*/ 4936 w 10000"/>
                  <a:gd name="connsiteY9" fmla="*/ 9475 h 10000"/>
                  <a:gd name="connsiteX10" fmla="*/ 5288 w 10000"/>
                  <a:gd name="connsiteY10" fmla="*/ 8384 h 10000"/>
                  <a:gd name="connsiteX11" fmla="*/ 3910 w 10000"/>
                  <a:gd name="connsiteY11" fmla="*/ 6283 h 10000"/>
                  <a:gd name="connsiteX12" fmla="*/ 3910 w 10000"/>
                  <a:gd name="connsiteY12" fmla="*/ 6263 h 10000"/>
                  <a:gd name="connsiteX13" fmla="*/ 1346 w 10000"/>
                  <a:gd name="connsiteY13" fmla="*/ 5333 h 10000"/>
                  <a:gd name="connsiteX14" fmla="*/ 0 w 10000"/>
                  <a:gd name="connsiteY14" fmla="*/ 3172 h 10000"/>
                  <a:gd name="connsiteX15" fmla="*/ 5000 w 10000"/>
                  <a:gd name="connsiteY15" fmla="*/ 0 h 10000"/>
                  <a:gd name="connsiteX0" fmla="*/ 5000 w 10000"/>
                  <a:gd name="connsiteY0" fmla="*/ 0 h 10086"/>
                  <a:gd name="connsiteX1" fmla="*/ 10000 w 10000"/>
                  <a:gd name="connsiteY1" fmla="*/ 3212 h 10086"/>
                  <a:gd name="connsiteX2" fmla="*/ 10000 w 10000"/>
                  <a:gd name="connsiteY2" fmla="*/ 3293 h 10086"/>
                  <a:gd name="connsiteX3" fmla="*/ 10000 w 10000"/>
                  <a:gd name="connsiteY3" fmla="*/ 3293 h 10086"/>
                  <a:gd name="connsiteX4" fmla="*/ 6795 w 10000"/>
                  <a:gd name="connsiteY4" fmla="*/ 9697 h 10086"/>
                  <a:gd name="connsiteX5" fmla="*/ 6635 w 10000"/>
                  <a:gd name="connsiteY5" fmla="*/ 9818 h 10086"/>
                  <a:gd name="connsiteX6" fmla="*/ 6635 w 10000"/>
                  <a:gd name="connsiteY6" fmla="*/ 9818 h 10086"/>
                  <a:gd name="connsiteX7" fmla="*/ 6635 w 10000"/>
                  <a:gd name="connsiteY7" fmla="*/ 9818 h 10086"/>
                  <a:gd name="connsiteX8" fmla="*/ 5897 w 10000"/>
                  <a:gd name="connsiteY8" fmla="*/ 10000 h 10086"/>
                  <a:gd name="connsiteX9" fmla="*/ 5288 w 10000"/>
                  <a:gd name="connsiteY9" fmla="*/ 8384 h 10086"/>
                  <a:gd name="connsiteX10" fmla="*/ 3910 w 10000"/>
                  <a:gd name="connsiteY10" fmla="*/ 6283 h 10086"/>
                  <a:gd name="connsiteX11" fmla="*/ 3910 w 10000"/>
                  <a:gd name="connsiteY11" fmla="*/ 6263 h 10086"/>
                  <a:gd name="connsiteX12" fmla="*/ 1346 w 10000"/>
                  <a:gd name="connsiteY12" fmla="*/ 5333 h 10086"/>
                  <a:gd name="connsiteX13" fmla="*/ 0 w 10000"/>
                  <a:gd name="connsiteY13" fmla="*/ 3172 h 10086"/>
                  <a:gd name="connsiteX14" fmla="*/ 5000 w 10000"/>
                  <a:gd name="connsiteY14" fmla="*/ 0 h 10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00" h="10086">
                    <a:moveTo>
                      <a:pt x="5000" y="0"/>
                    </a:moveTo>
                    <a:cubicBezTo>
                      <a:pt x="7756" y="0"/>
                      <a:pt x="10000" y="1455"/>
                      <a:pt x="10000" y="3212"/>
                    </a:cubicBezTo>
                    <a:lnTo>
                      <a:pt x="10000" y="3293"/>
                    </a:lnTo>
                    <a:lnTo>
                      <a:pt x="10000" y="3293"/>
                    </a:lnTo>
                    <a:cubicBezTo>
                      <a:pt x="10000" y="5717"/>
                      <a:pt x="8814" y="7859"/>
                      <a:pt x="6795" y="9697"/>
                    </a:cubicBezTo>
                    <a:cubicBezTo>
                      <a:pt x="6731" y="9737"/>
                      <a:pt x="6699" y="9778"/>
                      <a:pt x="6635" y="9818"/>
                    </a:cubicBezTo>
                    <a:lnTo>
                      <a:pt x="6635" y="9818"/>
                    </a:lnTo>
                    <a:lnTo>
                      <a:pt x="6635" y="9818"/>
                    </a:lnTo>
                    <a:cubicBezTo>
                      <a:pt x="6442" y="9919"/>
                      <a:pt x="6121" y="10239"/>
                      <a:pt x="5897" y="10000"/>
                    </a:cubicBezTo>
                    <a:cubicBezTo>
                      <a:pt x="5673" y="9761"/>
                      <a:pt x="5619" y="9003"/>
                      <a:pt x="5288" y="8384"/>
                    </a:cubicBezTo>
                    <a:cubicBezTo>
                      <a:pt x="5064" y="7556"/>
                      <a:pt x="4744" y="6848"/>
                      <a:pt x="3910" y="6283"/>
                    </a:cubicBezTo>
                    <a:lnTo>
                      <a:pt x="3910" y="6263"/>
                    </a:lnTo>
                    <a:cubicBezTo>
                      <a:pt x="3237" y="5818"/>
                      <a:pt x="2340" y="5475"/>
                      <a:pt x="1346" y="5333"/>
                    </a:cubicBezTo>
                    <a:cubicBezTo>
                      <a:pt x="513" y="4768"/>
                      <a:pt x="0" y="4000"/>
                      <a:pt x="0" y="3172"/>
                    </a:cubicBezTo>
                    <a:cubicBezTo>
                      <a:pt x="0" y="1414"/>
                      <a:pt x="2244" y="0"/>
                      <a:pt x="50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Freeform 108"/>
              <p:cNvSpPr>
                <a:spLocks/>
              </p:cNvSpPr>
              <p:nvPr/>
            </p:nvSpPr>
            <p:spPr bwMode="auto">
              <a:xfrm>
                <a:off x="4226296" y="2597150"/>
                <a:ext cx="709127" cy="1298838"/>
              </a:xfrm>
              <a:custGeom>
                <a:avLst/>
                <a:gdLst>
                  <a:gd name="T0" fmla="*/ 1122363 w 596"/>
                  <a:gd name="T1" fmla="*/ 4105275 h 1092"/>
                  <a:gd name="T2" fmla="*/ 598844 w 596"/>
                  <a:gd name="T3" fmla="*/ 4105275 h 1092"/>
                  <a:gd name="T4" fmla="*/ 79093 w 596"/>
                  <a:gd name="T5" fmla="*/ 1928577 h 1092"/>
                  <a:gd name="T6" fmla="*/ 1122363 w 596"/>
                  <a:gd name="T7" fmla="*/ 0 h 1092"/>
                  <a:gd name="T8" fmla="*/ 1126129 w 596"/>
                  <a:gd name="T9" fmla="*/ 0 h 1092"/>
                  <a:gd name="T10" fmla="*/ 2165632 w 596"/>
                  <a:gd name="T11" fmla="*/ 1928577 h 1092"/>
                  <a:gd name="T12" fmla="*/ 1645881 w 596"/>
                  <a:gd name="T13" fmla="*/ 4105275 h 1092"/>
                  <a:gd name="T14" fmla="*/ 1122363 w 596"/>
                  <a:gd name="T15" fmla="*/ 4105275 h 10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96" h="1092">
                    <a:moveTo>
                      <a:pt x="298" y="1092"/>
                    </a:moveTo>
                    <a:cubicBezTo>
                      <a:pt x="159" y="1092"/>
                      <a:pt x="159" y="1092"/>
                      <a:pt x="159" y="1092"/>
                    </a:cubicBezTo>
                    <a:cubicBezTo>
                      <a:pt x="31" y="824"/>
                      <a:pt x="21" y="513"/>
                      <a:pt x="21" y="513"/>
                    </a:cubicBezTo>
                    <a:cubicBezTo>
                      <a:pt x="0" y="212"/>
                      <a:pt x="298" y="0"/>
                      <a:pt x="298" y="0"/>
                    </a:cubicBezTo>
                    <a:cubicBezTo>
                      <a:pt x="299" y="0"/>
                      <a:pt x="299" y="0"/>
                      <a:pt x="299" y="0"/>
                    </a:cubicBezTo>
                    <a:cubicBezTo>
                      <a:pt x="299" y="0"/>
                      <a:pt x="596" y="212"/>
                      <a:pt x="575" y="513"/>
                    </a:cubicBezTo>
                    <a:cubicBezTo>
                      <a:pt x="575" y="513"/>
                      <a:pt x="566" y="824"/>
                      <a:pt x="437" y="1092"/>
                    </a:cubicBezTo>
                    <a:lnTo>
                      <a:pt x="298" y="109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Oval 113"/>
              <p:cNvSpPr>
                <a:spLocks noChangeArrowheads="1"/>
              </p:cNvSpPr>
              <p:nvPr/>
            </p:nvSpPr>
            <p:spPr bwMode="auto">
              <a:xfrm>
                <a:off x="4464149" y="3008591"/>
                <a:ext cx="236859" cy="230714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Oval 116"/>
              <p:cNvSpPr>
                <a:spLocks noChangeArrowheads="1"/>
              </p:cNvSpPr>
              <p:nvPr/>
            </p:nvSpPr>
            <p:spPr bwMode="auto">
              <a:xfrm>
                <a:off x="4511491" y="3311397"/>
                <a:ext cx="142175" cy="1469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Oval 119"/>
              <p:cNvSpPr>
                <a:spLocks noChangeArrowheads="1"/>
              </p:cNvSpPr>
              <p:nvPr/>
            </p:nvSpPr>
            <p:spPr bwMode="auto">
              <a:xfrm>
                <a:off x="4538857" y="3530389"/>
                <a:ext cx="87443" cy="85569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Rectangle 13"/>
              <p:cNvSpPr/>
              <p:nvPr/>
            </p:nvSpPr>
            <p:spPr>
              <a:xfrm>
                <a:off x="4499622" y="3895987"/>
                <a:ext cx="144641" cy="8863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" name="Freeform 14"/>
            <p:cNvSpPr/>
            <p:nvPr/>
          </p:nvSpPr>
          <p:spPr>
            <a:xfrm>
              <a:off x="2156992" y="1935650"/>
              <a:ext cx="10485942" cy="1952998"/>
            </a:xfrm>
            <a:custGeom>
              <a:avLst/>
              <a:gdLst>
                <a:gd name="connsiteX0" fmla="*/ 0 w 7473950"/>
                <a:gd name="connsiteY0" fmla="*/ 1390650 h 1392017"/>
                <a:gd name="connsiteX1" fmla="*/ 2197100 w 7473950"/>
                <a:gd name="connsiteY1" fmla="*/ 279400 h 1392017"/>
                <a:gd name="connsiteX2" fmla="*/ 4756150 w 7473950"/>
                <a:gd name="connsiteY2" fmla="*/ 1390650 h 1392017"/>
                <a:gd name="connsiteX3" fmla="*/ 7473950 w 7473950"/>
                <a:gd name="connsiteY3" fmla="*/ 0 h 1392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3950" h="1392017">
                  <a:moveTo>
                    <a:pt x="0" y="1390650"/>
                  </a:moveTo>
                  <a:cubicBezTo>
                    <a:pt x="702204" y="835025"/>
                    <a:pt x="1404408" y="279400"/>
                    <a:pt x="2197100" y="279400"/>
                  </a:cubicBezTo>
                  <a:cubicBezTo>
                    <a:pt x="2989792" y="279400"/>
                    <a:pt x="3876675" y="1437217"/>
                    <a:pt x="4756150" y="1390650"/>
                  </a:cubicBezTo>
                  <a:cubicBezTo>
                    <a:pt x="5635625" y="1344083"/>
                    <a:pt x="6968067" y="250825"/>
                    <a:pt x="7473950" y="0"/>
                  </a:cubicBezTo>
                </a:path>
              </a:pathLst>
            </a:custGeom>
            <a:ln w="12700" cmpd="sng">
              <a:solidFill>
                <a:srgbClr val="00B050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" name="Group 21"/>
            <p:cNvGrpSpPr/>
            <p:nvPr/>
          </p:nvGrpSpPr>
          <p:grpSpPr>
            <a:xfrm>
              <a:off x="2620194" y="3219517"/>
              <a:ext cx="2491134" cy="2370342"/>
              <a:chOff x="247103" y="2996879"/>
              <a:chExt cx="1775579" cy="1689482"/>
            </a:xfrm>
          </p:grpSpPr>
          <p:sp>
            <p:nvSpPr>
              <p:cNvPr id="28" name="TextBox 22"/>
              <p:cNvSpPr txBox="1"/>
              <p:nvPr/>
            </p:nvSpPr>
            <p:spPr>
              <a:xfrm>
                <a:off x="435548" y="2996879"/>
                <a:ext cx="1270587" cy="263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altLang="zh-CN" b="1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Enter the Order </a:t>
                </a:r>
                <a:endParaRPr lang="ko-KR" altLang="en-US" b="1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텍스트 개체 틀 2"/>
              <p:cNvSpPr txBox="1">
                <a:spLocks/>
              </p:cNvSpPr>
              <p:nvPr/>
            </p:nvSpPr>
            <p:spPr>
              <a:xfrm>
                <a:off x="247103" y="3238188"/>
                <a:ext cx="1775579" cy="1448173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1000" kern="1200" baseline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Rockwell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altLang="zh-CN" sz="1800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Login ODPM</a:t>
                </a:r>
                <a:r>
                  <a:rPr lang="zh-CN" altLang="en-US" sz="1800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，</a:t>
                </a:r>
                <a:r>
                  <a:rPr lang="en-US" altLang="zh-CN" sz="1800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enter the order information to the portal</a:t>
                </a:r>
                <a:r>
                  <a:rPr lang="zh-CN" altLang="en-US" sz="1800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，</a:t>
                </a:r>
                <a:r>
                  <a:rPr lang="en-US" altLang="zh-CN" sz="1800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create an order record.</a:t>
                </a:r>
                <a:endParaRPr lang="en-US" altLang="ko-KR" sz="1800" dirty="0">
                  <a:solidFill>
                    <a:srgbClr val="00B050"/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" name="Group 24"/>
            <p:cNvGrpSpPr/>
            <p:nvPr/>
          </p:nvGrpSpPr>
          <p:grpSpPr>
            <a:xfrm>
              <a:off x="7024201" y="4049250"/>
              <a:ext cx="2972828" cy="1890311"/>
              <a:chOff x="334646" y="2973379"/>
              <a:chExt cx="2118910" cy="1347335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619010" y="2973379"/>
                <a:ext cx="1443327" cy="263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altLang="zh-CN" b="1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Send the LINK</a:t>
                </a:r>
                <a:endParaRPr lang="ko-KR" altLang="en-US" b="1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텍스트 개체 틀 2"/>
              <p:cNvSpPr txBox="1">
                <a:spLocks/>
              </p:cNvSpPr>
              <p:nvPr/>
            </p:nvSpPr>
            <p:spPr>
              <a:xfrm>
                <a:off x="334646" y="3207378"/>
                <a:ext cx="2118910" cy="1113336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1000" kern="1200" baseline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Rockwell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altLang="zh-CN" sz="1800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Copy the link URL/ QR Code  and paste to email to consumer.</a:t>
                </a:r>
                <a:endParaRPr lang="en-US" altLang="ko-KR" sz="1800" dirty="0">
                  <a:solidFill>
                    <a:srgbClr val="00B050"/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" name="Group 30"/>
            <p:cNvGrpSpPr/>
            <p:nvPr/>
          </p:nvGrpSpPr>
          <p:grpSpPr>
            <a:xfrm>
              <a:off x="10095693" y="3646791"/>
              <a:ext cx="2388276" cy="1941919"/>
              <a:chOff x="742807" y="2939362"/>
              <a:chExt cx="1702265" cy="1384120"/>
            </a:xfrm>
          </p:grpSpPr>
          <p:sp>
            <p:nvSpPr>
              <p:cNvPr id="24" name="TextBox 31"/>
              <p:cNvSpPr txBox="1"/>
              <p:nvPr/>
            </p:nvSpPr>
            <p:spPr>
              <a:xfrm>
                <a:off x="747704" y="2939362"/>
                <a:ext cx="1570122" cy="263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altLang="zh-CN" b="1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Complete Payment</a:t>
                </a:r>
                <a:endParaRPr lang="ko-KR" altLang="en-US" b="1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텍스트 개체 틀 2"/>
              <p:cNvSpPr txBox="1">
                <a:spLocks/>
              </p:cNvSpPr>
              <p:nvPr/>
            </p:nvSpPr>
            <p:spPr>
              <a:xfrm>
                <a:off x="742807" y="3210146"/>
                <a:ext cx="1702265" cy="1113336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1000" kern="1200" baseline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Rockwell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altLang="zh-CN" sz="1800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Consumer receive the email, complete the payment at their mobile devices by URL/QR Code.</a:t>
                </a:r>
                <a:endParaRPr lang="en-US" altLang="ko-KR" sz="1800" dirty="0">
                  <a:solidFill>
                    <a:srgbClr val="00B050"/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" name="Group 42"/>
            <p:cNvGrpSpPr/>
            <p:nvPr/>
          </p:nvGrpSpPr>
          <p:grpSpPr>
            <a:xfrm>
              <a:off x="5104181" y="2849477"/>
              <a:ext cx="1934712" cy="1634671"/>
              <a:chOff x="455487" y="2995559"/>
              <a:chExt cx="1378983" cy="1165127"/>
            </a:xfrm>
          </p:grpSpPr>
          <p:sp>
            <p:nvSpPr>
              <p:cNvPr id="22" name="TextBox 43"/>
              <p:cNvSpPr txBox="1"/>
              <p:nvPr/>
            </p:nvSpPr>
            <p:spPr>
              <a:xfrm>
                <a:off x="548157" y="2995559"/>
                <a:ext cx="1156100" cy="263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altLang="zh-CN" b="1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Create LINK</a:t>
                </a:r>
                <a:endParaRPr lang="ko-KR" altLang="en-US" b="1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" name="텍스트 개체 틀 2"/>
              <p:cNvSpPr txBox="1">
                <a:spLocks/>
              </p:cNvSpPr>
              <p:nvPr/>
            </p:nvSpPr>
            <p:spPr>
              <a:xfrm>
                <a:off x="455487" y="3236866"/>
                <a:ext cx="1378983" cy="92382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1000" kern="1200" baseline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Rockwell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altLang="zh-CN" sz="1800" dirty="0">
                    <a:solidFill>
                      <a:srgbClr val="00B05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Merchant select the order, enter the amount to create a link.</a:t>
                </a:r>
                <a:endParaRPr lang="en-US" altLang="ko-KR" sz="1800" dirty="0">
                  <a:solidFill>
                    <a:srgbClr val="00B050"/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3323609" y="2348204"/>
              <a:ext cx="911368" cy="797313"/>
              <a:chOff x="3323609" y="2348204"/>
              <a:chExt cx="911368" cy="797313"/>
            </a:xfrm>
            <a:solidFill>
              <a:srgbClr val="00B050"/>
            </a:solidFill>
          </p:grpSpPr>
          <p:sp>
            <p:nvSpPr>
              <p:cNvPr id="20" name="Rounded Rectangle 16"/>
              <p:cNvSpPr/>
              <p:nvPr/>
            </p:nvSpPr>
            <p:spPr>
              <a:xfrm>
                <a:off x="3334696" y="2348204"/>
                <a:ext cx="829680" cy="79731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 dirty="0"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3323609" y="2541517"/>
                <a:ext cx="911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>
                        <a:lumMod val="9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Step 1</a:t>
                </a:r>
                <a:endParaRPr lang="zh-CN" altLang="en-US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5238769" y="1909911"/>
              <a:ext cx="911368" cy="797313"/>
              <a:chOff x="3293852" y="2348204"/>
              <a:chExt cx="911368" cy="797313"/>
            </a:xfrm>
          </p:grpSpPr>
          <p:sp>
            <p:nvSpPr>
              <p:cNvPr id="18" name="Rounded Rectangle 16"/>
              <p:cNvSpPr/>
              <p:nvPr/>
            </p:nvSpPr>
            <p:spPr>
              <a:xfrm>
                <a:off x="3334696" y="2348204"/>
                <a:ext cx="829680" cy="797313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 dirty="0"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3293852" y="2568191"/>
                <a:ext cx="911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>
                        <a:lumMod val="9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Step</a:t>
                </a:r>
                <a:r>
                  <a:rPr lang="en-US" altLang="zh-CN" b="1" dirty="0"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 </a:t>
                </a:r>
                <a:r>
                  <a:rPr lang="en-US" altLang="zh-CN" b="1" dirty="0">
                    <a:solidFill>
                      <a:schemeClr val="bg1">
                        <a:lumMod val="9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2</a:t>
                </a:r>
                <a:endParaRPr lang="zh-CN" altLang="en-US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7572866" y="3173643"/>
              <a:ext cx="911368" cy="797313"/>
              <a:chOff x="3301586" y="2348204"/>
              <a:chExt cx="911368" cy="797313"/>
            </a:xfrm>
          </p:grpSpPr>
          <p:sp>
            <p:nvSpPr>
              <p:cNvPr id="16" name="Rounded Rectangle 16"/>
              <p:cNvSpPr/>
              <p:nvPr/>
            </p:nvSpPr>
            <p:spPr>
              <a:xfrm>
                <a:off x="3334696" y="2348204"/>
                <a:ext cx="829680" cy="797313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 dirty="0"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3301586" y="2563916"/>
                <a:ext cx="911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>
                        <a:lumMod val="9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Step 3</a:t>
                </a:r>
                <a:endParaRPr lang="zh-CN" altLang="en-US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9771673" y="2819007"/>
              <a:ext cx="911368" cy="797313"/>
              <a:chOff x="3293852" y="2348204"/>
              <a:chExt cx="911368" cy="797313"/>
            </a:xfrm>
          </p:grpSpPr>
          <p:sp>
            <p:nvSpPr>
              <p:cNvPr id="14" name="Rounded Rectangle 16"/>
              <p:cNvSpPr/>
              <p:nvPr/>
            </p:nvSpPr>
            <p:spPr>
              <a:xfrm>
                <a:off x="3334696" y="2348204"/>
                <a:ext cx="829680" cy="797313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 dirty="0"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293852" y="2547952"/>
                <a:ext cx="911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bg1">
                        <a:lumMod val="9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  <a:cs typeface="Calibri" panose="020F0502020204030204" pitchFamily="34" charset="0"/>
                  </a:rPr>
                  <a:t>Step 4</a:t>
                </a:r>
                <a:endParaRPr lang="zh-CN" altLang="en-US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5927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1322" y="597694"/>
            <a:ext cx="7422776" cy="549275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199719"/>
                </a:solidFill>
              </a:rPr>
              <a:t>ODPM- Payment – Pay By Link- Create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59B09C-A559-4597-B3DB-F3E2AA32A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22" y="1370083"/>
            <a:ext cx="10987776" cy="430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94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2845" y="525919"/>
            <a:ext cx="7422776" cy="549275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199719"/>
                </a:solidFill>
              </a:rPr>
              <a:t>ODPM- Payment – Pay By Link- Create</a:t>
            </a:r>
            <a:endParaRPr lang="zh-CN" altLang="en-US" sz="2400" b="1" dirty="0">
              <a:solidFill>
                <a:srgbClr val="199719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463FC32-5B8A-88CF-8170-7F93C7D51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832272"/>
              </p:ext>
            </p:extLst>
          </p:nvPr>
        </p:nvGraphicFramePr>
        <p:xfrm>
          <a:off x="5557826" y="1184366"/>
          <a:ext cx="6169453" cy="5112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3245">
                  <a:extLst>
                    <a:ext uri="{9D8B030D-6E8A-4147-A177-3AD203B41FA5}">
                      <a16:colId xmlns:a16="http://schemas.microsoft.com/office/drawing/2014/main" val="3159304836"/>
                    </a:ext>
                  </a:extLst>
                </a:gridCol>
                <a:gridCol w="3216208">
                  <a:extLst>
                    <a:ext uri="{9D8B030D-6E8A-4147-A177-3AD203B41FA5}">
                      <a16:colId xmlns:a16="http://schemas.microsoft.com/office/drawing/2014/main" val="1030142285"/>
                    </a:ext>
                  </a:extLst>
                </a:gridCol>
              </a:tblGrid>
              <a:tr h="68209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1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Terminal Number</a:t>
                      </a:r>
                      <a:endParaRPr lang="zh-CN" altLang="en-US" sz="1600" b="1" dirty="0"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Arial Unicode MS" panose="020B0604020202020204"/>
                          <a:cs typeface="Calibri" panose="020F0502020204030204" pitchFamily="34" charset="0"/>
                        </a:rPr>
                        <a:t>终端号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Arial Unicode MS" panose="020B0604020202020204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Arial Unicode MS" panose="020B0604020202020204"/>
                          <a:cs typeface="Calibri" panose="020F0502020204030204" pitchFamily="34" charset="0"/>
                        </a:rPr>
                        <a:t>支付方式</a:t>
                      </a: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Arial Unicode MS" panose="020B0604020202020204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1886201"/>
                  </a:ext>
                </a:extLst>
              </a:tr>
              <a:tr h="76399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1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Payment Method</a:t>
                      </a:r>
                      <a:endParaRPr lang="zh-CN" altLang="en-US" sz="1600" b="1" dirty="0"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0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Will automatically display the payment method corresponding to the terminal number</a:t>
                      </a:r>
                      <a:endParaRPr lang="zh-CN" altLang="en-US" sz="1600" b="0" dirty="0"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6574488"/>
                  </a:ext>
                </a:extLst>
              </a:tr>
              <a:tr h="54606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Invoice No./Account Order No</a:t>
                      </a:r>
                      <a:endParaRPr lang="zh-CN" altLang="en-US" sz="1600" b="1" dirty="0"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0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Your order number to this order</a:t>
                      </a:r>
                      <a:endParaRPr lang="zh-CN" altLang="en-US" sz="1600" b="0" dirty="0"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7457239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1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Buyer Company Name</a:t>
                      </a:r>
                      <a:endParaRPr lang="en-US" altLang="zh-CN" sz="1600" b="1" i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0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Can put “N/A”</a:t>
                      </a:r>
                      <a:endParaRPr lang="zh-CN" altLang="en-US" sz="1600" b="0" dirty="0"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6335593"/>
                  </a:ext>
                </a:extLst>
              </a:tr>
              <a:tr h="515389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1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Contact</a:t>
                      </a:r>
                      <a:endParaRPr lang="en-US" altLang="zh-CN" sz="1600" b="1" i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0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Customer’s name</a:t>
                      </a:r>
                      <a:endParaRPr lang="zh-CN" altLang="en-US" sz="1600" b="0" dirty="0"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4696660"/>
                  </a:ext>
                </a:extLst>
              </a:tr>
              <a:tr h="515389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1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Email</a:t>
                      </a:r>
                      <a:endParaRPr lang="en-US" altLang="zh-CN" sz="1600" b="1" i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0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The email address of customer</a:t>
                      </a:r>
                      <a:endParaRPr lang="zh-CN" altLang="en-US" sz="1600" b="0" dirty="0"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9304714"/>
                  </a:ext>
                </a:extLst>
              </a:tr>
              <a:tr h="515389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Operation Currency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0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Order Currency</a:t>
                      </a:r>
                      <a:endParaRPr lang="zh-CN" altLang="en-US" sz="1600" b="0" dirty="0"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5665491"/>
                  </a:ext>
                </a:extLst>
              </a:tr>
              <a:tr h="4904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Operation Amount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Order Amount</a:t>
                      </a:r>
                      <a:endParaRPr lang="zh-CN" altLang="en-US" sz="1600" b="0" dirty="0"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9441459"/>
                  </a:ext>
                </a:extLst>
              </a:tr>
              <a:tr h="534019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Remark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 Unicode MS" panose="020B0604020202020204" pitchFamily="34" charset="-122"/>
                          <a:cs typeface="Calibri" panose="020F0502020204030204" pitchFamily="34" charset="0"/>
                        </a:rPr>
                        <a:t>/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 Unicode MS" panose="020B0604020202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8795349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9280422C-0E64-49EC-A24B-601760522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2" y="1184366"/>
            <a:ext cx="4660428" cy="543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0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2845" y="525919"/>
            <a:ext cx="7422776" cy="549275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199719"/>
                </a:solidFill>
              </a:rPr>
              <a:t>ODPM- Payment – Pay By Link- Create</a:t>
            </a:r>
            <a:endParaRPr lang="zh-CN" altLang="en-US" sz="2400" b="1" dirty="0">
              <a:solidFill>
                <a:srgbClr val="199719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4FD218-B588-463E-8434-EDF7126BBF85}"/>
              </a:ext>
            </a:extLst>
          </p:cNvPr>
          <p:cNvSpPr txBox="1"/>
          <p:nvPr/>
        </p:nvSpPr>
        <p:spPr>
          <a:xfrm>
            <a:off x="670560" y="4896956"/>
            <a:ext cx="111643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an order has been created, it can be found by clicking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the order needs to be modified, you can click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Edit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modify it,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click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Link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generate a link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directly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6152B4-CB41-49C0-8544-603600FF5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051837"/>
            <a:ext cx="11164389" cy="384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18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1152470" y="504055"/>
            <a:ext cx="7422776" cy="549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199719"/>
                </a:solidFill>
              </a:rPr>
              <a:t>ODPM- Payment – Pay By Link- Create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3618" y="4265700"/>
            <a:ext cx="576467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Fill the full amount in the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 Amount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Click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Now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Select the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Copy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copy the payment URL and send it out to the customer by email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</a:t>
            </a:r>
            <a:r>
              <a:rPr lang="en-US" altLang="zh-CN" b="0" i="0" dirty="0">
                <a:solidFill>
                  <a:srgbClr val="FB3535"/>
                </a:solidFill>
                <a:effectLst/>
                <a:latin typeface="PingFang SC"/>
              </a:rPr>
              <a:t>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Partial payment cannot be generated more than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times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A166C3-3D40-4D9B-AE86-22E3D7CFF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93" y="1075911"/>
            <a:ext cx="5794413" cy="2420451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1849199" y="2055662"/>
            <a:ext cx="3706339" cy="1080148"/>
            <a:chOff x="1930818" y="2279179"/>
            <a:chExt cx="3706339" cy="1080148"/>
          </a:xfrm>
        </p:grpSpPr>
        <p:sp>
          <p:nvSpPr>
            <p:cNvPr id="6" name="圆角矩形 5"/>
            <p:cNvSpPr/>
            <p:nvPr/>
          </p:nvSpPr>
          <p:spPr>
            <a:xfrm>
              <a:off x="2201948" y="2447800"/>
              <a:ext cx="2211572" cy="400276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548064" y="2989995"/>
              <a:ext cx="1089093" cy="369332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930818" y="2279179"/>
              <a:ext cx="542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276934" y="2855395"/>
              <a:ext cx="542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05832E3B-F904-4015-B75E-32071D6BE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459" y="1053330"/>
            <a:ext cx="5108218" cy="297411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5576535-8757-4EBA-8364-53D208145D30}"/>
              </a:ext>
            </a:extLst>
          </p:cNvPr>
          <p:cNvSpPr txBox="1"/>
          <p:nvPr/>
        </p:nvSpPr>
        <p:spPr>
          <a:xfrm>
            <a:off x="6328287" y="4235627"/>
            <a:ext cx="577886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 the payment link to the Confirmation</a:t>
            </a:r>
          </a:p>
          <a:p>
            <a:pPr algn="ctr">
              <a:spcAft>
                <a:spcPts val="600"/>
              </a:spcAft>
            </a:pP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Please be noted that the payment link only valid within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48 hours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so after you create the link, please send it out to the consumer shortly.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A511BF-0BBC-4D29-ABA8-1611C1964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38" y="3524931"/>
            <a:ext cx="5342857" cy="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4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4813" y="563915"/>
            <a:ext cx="7422776" cy="549275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199719"/>
                </a:solidFill>
              </a:rPr>
              <a:t>ODPM- Payment – Pay By Link- Query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103618-92B7-41CB-BA3D-E2B231EB5901}"/>
              </a:ext>
            </a:extLst>
          </p:cNvPr>
          <p:cNvSpPr txBox="1"/>
          <p:nvPr/>
        </p:nvSpPr>
        <p:spPr>
          <a:xfrm>
            <a:off x="757824" y="5302148"/>
            <a:ext cx="1092779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b="1" dirty="0">
                <a:solidFill>
                  <a:srgbClr val="02993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Approved: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 paid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Unpaid: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 unpaid. If the order is not recorded the Payment Time, then the consumer has not yet opened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link and the link is still valid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Fail: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 expired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391F98F-F485-41B8-AD3D-EDF9CA224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77" y="1113190"/>
            <a:ext cx="11179245" cy="407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92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4813" y="563915"/>
            <a:ext cx="7422776" cy="549275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199719"/>
                </a:solidFill>
              </a:rPr>
              <a:t>ODPM- Payment – Pay By Link- Query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7F494F-DE20-4972-9205-1B0DAD6CE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2516293"/>
            <a:ext cx="11521440" cy="182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16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041"/>
            <a:ext cx="12192000" cy="6887042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2">
      <a:majorFont>
        <a:latin typeface="Karla"/>
        <a:ea typeface=""/>
        <a:cs typeface=""/>
      </a:majorFont>
      <a:minorFont>
        <a:latin typeface="King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15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4871</TotalTime>
  <Words>363</Words>
  <Application>Microsoft Office PowerPoint</Application>
  <PresentationFormat>宽屏</PresentationFormat>
  <Paragraphs>57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 Unicode MS</vt:lpstr>
      <vt:lpstr>King</vt:lpstr>
      <vt:lpstr>PingFang SC</vt:lpstr>
      <vt:lpstr>思源黑体 CN Bold</vt:lpstr>
      <vt:lpstr>微软雅黑</vt:lpstr>
      <vt:lpstr>Arial</vt:lpstr>
      <vt:lpstr>Calibri</vt:lpstr>
      <vt:lpstr>Karla</vt:lpstr>
      <vt:lpstr>Тема Office</vt:lpstr>
      <vt:lpstr>PowerPoint 演示文稿</vt:lpstr>
      <vt:lpstr>Procedure Of Pay By LINK </vt:lpstr>
      <vt:lpstr>ODPM- Payment – Pay By Link- Create</vt:lpstr>
      <vt:lpstr>ODPM- Payment – Pay By Link- Create</vt:lpstr>
      <vt:lpstr>ODPM- Payment – Pay By Link- Create</vt:lpstr>
      <vt:lpstr>PowerPoint 演示文稿</vt:lpstr>
      <vt:lpstr>ODPM- Payment – Pay By Link- Query</vt:lpstr>
      <vt:lpstr>ODPM- Payment – Pay By Link- Query</vt:lpstr>
      <vt:lpstr>PowerPoint 演示文稿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王施静</cp:lastModifiedBy>
  <cp:revision>701</cp:revision>
  <cp:lastPrinted>2019-01-14T10:22:35Z</cp:lastPrinted>
  <dcterms:created xsi:type="dcterms:W3CDTF">2016-12-07T06:54:28Z</dcterms:created>
  <dcterms:modified xsi:type="dcterms:W3CDTF">2026-05-11T09:20:41Z</dcterms:modified>
</cp:coreProperties>
</file>